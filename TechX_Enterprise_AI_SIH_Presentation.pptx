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bi3388@outlook.com" userId="8b4ef784b944ea01" providerId="LiveId" clId="{B63B23B7-1E7A-4F06-B302-3E3D7BAAD350}"/>
    <pc:docChg chg="custSel modSld">
      <pc:chgData name="vabi3388@outlook.com" userId="8b4ef784b944ea01" providerId="LiveId" clId="{B63B23B7-1E7A-4F06-B302-3E3D7BAAD350}" dt="2026-09-15T16:15:39.859" v="231" actId="20577"/>
      <pc:docMkLst>
        <pc:docMk/>
      </pc:docMkLst>
      <pc:sldChg chg="modSp mod">
        <pc:chgData name="vabi3388@outlook.com" userId="8b4ef784b944ea01" providerId="LiveId" clId="{B63B23B7-1E7A-4F06-B302-3E3D7BAAD350}" dt="2026-09-15T16:15:39.859" v="231" actId="20577"/>
        <pc:sldMkLst>
          <pc:docMk/>
          <pc:sldMk cId="0" sldId="256"/>
        </pc:sldMkLst>
        <pc:spChg chg="mod">
          <ac:chgData name="vabi3388@outlook.com" userId="8b4ef784b944ea01" providerId="LiveId" clId="{B63B23B7-1E7A-4F06-B302-3E3D7BAAD350}" dt="2026-09-15T16:15:39.859" v="231" actId="20577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vabi3388@outlook.com" userId="8b4ef784b944ea01" providerId="LiveId" clId="{B63B23B7-1E7A-4F06-B302-3E3D7BAAD350}" dt="2026-09-15T16:12:55.513" v="2" actId="207"/>
        <pc:sldMkLst>
          <pc:docMk/>
          <pc:sldMk cId="0" sldId="264"/>
        </pc:sldMkLst>
        <pc:spChg chg="mod">
          <ac:chgData name="vabi3388@outlook.com" userId="8b4ef784b944ea01" providerId="LiveId" clId="{B63B23B7-1E7A-4F06-B302-3E3D7BAAD350}" dt="2026-09-15T16:12:41.815" v="0" actId="790"/>
          <ac:spMkLst>
            <pc:docMk/>
            <pc:sldMk cId="0" sldId="264"/>
            <ac:spMk id="2" creationId="{00000000-0000-0000-0000-000000000000}"/>
          </ac:spMkLst>
        </pc:spChg>
        <pc:spChg chg="mod">
          <ac:chgData name="vabi3388@outlook.com" userId="8b4ef784b944ea01" providerId="LiveId" clId="{B63B23B7-1E7A-4F06-B302-3E3D7BAAD350}" dt="2026-09-15T16:12:41.815" v="0" actId="790"/>
          <ac:spMkLst>
            <pc:docMk/>
            <pc:sldMk cId="0" sldId="264"/>
            <ac:spMk id="3" creationId="{00000000-0000-0000-0000-000000000000}"/>
          </ac:spMkLst>
        </pc:spChg>
        <pc:spChg chg="mod">
          <ac:chgData name="vabi3388@outlook.com" userId="8b4ef784b944ea01" providerId="LiveId" clId="{B63B23B7-1E7A-4F06-B302-3E3D7BAAD350}" dt="2026-09-15T16:12:50.512" v="1" actId="207"/>
          <ac:spMkLst>
            <pc:docMk/>
            <pc:sldMk cId="0" sldId="264"/>
            <ac:spMk id="4" creationId="{00000000-0000-0000-0000-000000000000}"/>
          </ac:spMkLst>
        </pc:spChg>
        <pc:spChg chg="mod">
          <ac:chgData name="vabi3388@outlook.com" userId="8b4ef784b944ea01" providerId="LiveId" clId="{B63B23B7-1E7A-4F06-B302-3E3D7BAAD350}" dt="2026-09-15T16:12:41.815" v="0" actId="790"/>
          <ac:spMkLst>
            <pc:docMk/>
            <pc:sldMk cId="0" sldId="264"/>
            <ac:spMk id="5" creationId="{00000000-0000-0000-0000-000000000000}"/>
          </ac:spMkLst>
        </pc:spChg>
        <pc:spChg chg="mod">
          <ac:chgData name="vabi3388@outlook.com" userId="8b4ef784b944ea01" providerId="LiveId" clId="{B63B23B7-1E7A-4F06-B302-3E3D7BAAD350}" dt="2026-09-15T16:12:55.513" v="2" actId="207"/>
          <ac:spMkLst>
            <pc:docMk/>
            <pc:sldMk cId="0" sldId="264"/>
            <ac:spMk id="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SMART INDIA HACKATHON 2026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TechX Enterprise AI — Intelligent LLM Database Agent &amp; BI Studio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6858000" cy="438912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tlCol="0" anchor="ctr"/>
          <a:lstStyle/>
          <a:p>
            <a:pPr algn="ctr"/>
            <a:endParaRPr dirty="0"/>
          </a:p>
          <a:p>
            <a:pPr>
              <a:defRPr sz="1300" b="1">
                <a:solidFill>
                  <a:srgbClr val="C8102E"/>
                </a:solidFill>
              </a:defRPr>
            </a:pPr>
            <a:r>
              <a:rPr dirty="0"/>
              <a:t>Problem Statement Title: </a:t>
            </a:r>
            <a:r>
              <a:rPr b="0" dirty="0">
                <a:solidFill>
                  <a:srgbClr val="0F172A"/>
                </a:solidFill>
              </a:rPr>
              <a:t>Conversational AI Agent for NL Database Querying &amp; Visualization</a:t>
            </a:r>
          </a:p>
          <a:p>
            <a:pPr>
              <a:defRPr sz="1300" b="1">
                <a:solidFill>
                  <a:srgbClr val="C8102E"/>
                </a:solidFill>
              </a:defRPr>
            </a:pPr>
            <a:r>
              <a:rPr dirty="0"/>
              <a:t>Theme / Domain: </a:t>
            </a:r>
            <a:r>
              <a:rPr b="0" dirty="0">
                <a:solidFill>
                  <a:srgbClr val="0F172A"/>
                </a:solidFill>
              </a:rPr>
              <a:t>AI / Data Analytics / Enterprise Software</a:t>
            </a:r>
          </a:p>
          <a:p>
            <a:pPr>
              <a:defRPr sz="1300" b="1">
                <a:solidFill>
                  <a:srgbClr val="C8102E"/>
                </a:solidFill>
              </a:defRPr>
            </a:pPr>
            <a:r>
              <a:rPr dirty="0"/>
              <a:t>PS Category: </a:t>
            </a:r>
            <a:r>
              <a:rPr b="0" dirty="0">
                <a:solidFill>
                  <a:srgbClr val="0F172A"/>
                </a:solidFill>
              </a:rPr>
              <a:t>Software</a:t>
            </a:r>
          </a:p>
          <a:p>
            <a:pPr>
              <a:defRPr sz="1300" b="1">
                <a:solidFill>
                  <a:srgbClr val="C8102E"/>
                </a:solidFill>
              </a:defRPr>
            </a:pPr>
            <a:r>
              <a:rPr dirty="0"/>
              <a:t>Team Name: </a:t>
            </a:r>
            <a:r>
              <a:rPr b="0" dirty="0">
                <a:solidFill>
                  <a:srgbClr val="0F172A"/>
                </a:solidFill>
              </a:rPr>
              <a:t>Tech</a:t>
            </a:r>
            <a:r>
              <a:rPr lang="en-US" b="0" dirty="0">
                <a:solidFill>
                  <a:srgbClr val="0F172A"/>
                </a:solidFill>
              </a:rPr>
              <a:t>ies </a:t>
            </a:r>
          </a:p>
          <a:p>
            <a:pPr>
              <a:defRPr sz="1300" b="1">
                <a:solidFill>
                  <a:srgbClr val="C8102E"/>
                </a:solidFill>
              </a:defRPr>
            </a:pPr>
            <a:r>
              <a:rPr dirty="0"/>
              <a:t>Team Leader Name: </a:t>
            </a:r>
            <a:r>
              <a:rPr dirty="0">
                <a:solidFill>
                  <a:srgbClr val="0F172A"/>
                </a:solidFill>
              </a:rPr>
              <a:t>Abhijit </a:t>
            </a:r>
            <a:r>
              <a:rPr lang="en-US" dirty="0">
                <a:solidFill>
                  <a:srgbClr val="0F172A"/>
                </a:solidFill>
              </a:rPr>
              <a:t>V</a:t>
            </a:r>
            <a:endParaRPr b="0" dirty="0">
              <a:solidFill>
                <a:srgbClr val="0F172A"/>
              </a:solidFill>
            </a:endParaRPr>
          </a:p>
          <a:p>
            <a:pPr>
              <a:defRPr sz="1300" b="1">
                <a:solidFill>
                  <a:srgbClr val="C8102E"/>
                </a:solidFill>
              </a:defRPr>
            </a:pPr>
            <a:r>
              <a:rPr dirty="0"/>
              <a:t>Team Members:</a:t>
            </a:r>
            <a:r>
              <a:rPr lang="en-US" dirty="0"/>
              <a:t> </a:t>
            </a:r>
            <a:r>
              <a:rPr lang="en-US" dirty="0" err="1">
                <a:solidFill>
                  <a:schemeClr val="tx1"/>
                </a:solidFill>
              </a:rPr>
              <a:t>Amudala</a:t>
            </a:r>
            <a:r>
              <a:rPr lang="en-US" dirty="0">
                <a:solidFill>
                  <a:schemeClr val="tx1"/>
                </a:solidFill>
              </a:rPr>
              <a:t> Rahul Kumar</a:t>
            </a:r>
          </a:p>
          <a:p>
            <a:pPr>
              <a:defRPr sz="1300" b="1">
                <a:solidFill>
                  <a:srgbClr val="C8102E"/>
                </a:solidFill>
              </a:defRPr>
            </a:pPr>
            <a:r>
              <a:rPr lang="en-US" dirty="0">
                <a:solidFill>
                  <a:schemeClr val="tx1"/>
                </a:solidFill>
              </a:rPr>
              <a:t>                              Sheik </a:t>
            </a:r>
            <a:r>
              <a:rPr lang="en-US" dirty="0" err="1">
                <a:solidFill>
                  <a:schemeClr val="tx1"/>
                </a:solidFill>
              </a:rPr>
              <a:t>shahul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hameed</a:t>
            </a:r>
            <a:endParaRPr lang="en-US" dirty="0">
              <a:solidFill>
                <a:schemeClr val="tx1"/>
              </a:solidFill>
            </a:endParaRPr>
          </a:p>
          <a:p>
            <a:pPr>
              <a:defRPr sz="1300" b="1">
                <a:solidFill>
                  <a:srgbClr val="C8102E"/>
                </a:solidFill>
              </a:defRPr>
            </a:pPr>
            <a:r>
              <a:rPr lang="en-US" dirty="0">
                <a:solidFill>
                  <a:schemeClr val="tx1"/>
                </a:solidFill>
              </a:rPr>
              <a:t>                              Santhosh S</a:t>
            </a:r>
          </a:p>
          <a:p>
            <a:pPr>
              <a:defRPr sz="1300" b="1">
                <a:solidFill>
                  <a:srgbClr val="C8102E"/>
                </a:solidFill>
              </a:defRPr>
            </a:pPr>
            <a:r>
              <a:rPr lang="en-US" dirty="0">
                <a:solidFill>
                  <a:schemeClr val="tx1"/>
                </a:solidFill>
              </a:rPr>
              <a:t>                              Sai </a:t>
            </a:r>
            <a:r>
              <a:rPr lang="en-US">
                <a:solidFill>
                  <a:schemeClr val="tx1"/>
                </a:solidFill>
              </a:rPr>
              <a:t>prasad P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955279" y="1828800"/>
            <a:ext cx="3474720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371600" rtlCol="0" anchor="ctr"/>
          <a:lstStyle/>
          <a:p>
            <a:pPr algn="ctr">
              <a:defRPr sz="2000" b="1">
                <a:solidFill>
                  <a:srgbClr val="06B6D4"/>
                </a:solidFill>
              </a:defRPr>
            </a:pPr>
            <a:r>
              <a:t>TECHX ENTERPRISE AI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Natural Language SQL/NoSQL Execution</a:t>
            </a:r>
            <a:br/>
            <a:r>
              <a:t>+ 3D Interactive 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228600" rtlCol="0" anchor="ctr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93776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365760" rtlCol="0" anchor="ctr"/>
          <a:lstStyle/>
          <a:p>
            <a:pPr algn="ctr"/>
            <a:endParaRPr/>
          </a:p>
          <a:p>
            <a:pPr>
              <a:defRPr sz="1500" b="1">
                <a:solidFill>
                  <a:srgbClr val="C8102E"/>
                </a:solidFill>
              </a:defRPr>
            </a:pPr>
            <a:r>
              <a:t>• Data Barrier for Non-Technical Users: </a:t>
            </a:r>
            <a:r>
              <a:rPr b="0">
                <a:solidFill>
                  <a:srgbClr val="0F172A"/>
                </a:solidFill>
              </a:rPr>
              <a:t>Business analysts, executives, and managers struggle to write complex SQL queries or joins, creating dependency bottlenecks on data teams.</a:t>
            </a:r>
          </a:p>
          <a:p>
            <a:endParaRPr b="0">
              <a:solidFill>
                <a:srgbClr val="0F172A"/>
              </a:solidFill>
            </a:endParaRPr>
          </a:p>
          <a:p>
            <a:pPr>
              <a:defRPr sz="1500" b="1">
                <a:solidFill>
                  <a:srgbClr val="C8102E"/>
                </a:solidFill>
              </a:defRPr>
            </a:pPr>
            <a:r>
              <a:t>• Slow Turnaround for Custom Analytics: </a:t>
            </a:r>
            <a:r>
              <a:rPr b="0">
                <a:solidFill>
                  <a:srgbClr val="0F172A"/>
                </a:solidFill>
              </a:rPr>
              <a:t>Building custom BI dashboards and query reports manually takes days or weeks, delaying urgent operational decision-making.</a:t>
            </a:r>
          </a:p>
          <a:p>
            <a:endParaRPr b="0">
              <a:solidFill>
                <a:srgbClr val="0F172A"/>
              </a:solidFill>
            </a:endParaRPr>
          </a:p>
          <a:p>
            <a:pPr>
              <a:defRPr sz="1500" b="1">
                <a:solidFill>
                  <a:srgbClr val="C8102E"/>
                </a:solidFill>
              </a:defRPr>
            </a:pPr>
            <a:r>
              <a:t>• Lack of Query Transparency &amp; Trust: </a:t>
            </a:r>
            <a:r>
              <a:rPr b="0">
                <a:solidFill>
                  <a:srgbClr val="0F172A"/>
                </a:solidFill>
              </a:rPr>
              <a:t>Traditional BI systems obscure generated SQL code, making it difficult for developers and auditors to verify query logic or safety.</a:t>
            </a:r>
          </a:p>
          <a:p>
            <a:endParaRPr b="0">
              <a:solidFill>
                <a:srgbClr val="0F172A"/>
              </a:solidFill>
            </a:endParaRPr>
          </a:p>
          <a:p>
            <a:pPr>
              <a:defRPr sz="1500" b="1">
                <a:solidFill>
                  <a:srgbClr val="C8102E"/>
                </a:solidFill>
              </a:defRPr>
            </a:pPr>
            <a:r>
              <a:t>• Multi-Database Fragmentation: </a:t>
            </a:r>
            <a:r>
              <a:rPr b="0">
                <a:solidFill>
                  <a:srgbClr val="0F172A"/>
                </a:solidFill>
              </a:rPr>
              <a:t>Modern enterprises maintain separate SQL relational databases (PostgreSQL/SQLite) and NoSQL document stores (Firestore), requiring fragmented query tools.</a:t>
            </a:r>
          </a:p>
          <a:p>
            <a:endParaRPr b="0">
              <a:solidFill>
                <a:srgbClr val="0F172A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228600" rtlCol="0" anchor="ctr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PROPOSED SOLUTION /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tlCol="0" anchor="ctr"/>
          <a:lstStyle/>
          <a:p>
            <a:pPr algn="ctr">
              <a:defRPr sz="1800" b="1">
                <a:solidFill>
                  <a:srgbClr val="C8102E"/>
                </a:solidFill>
              </a:defRPr>
            </a:pPr>
            <a:r>
              <a:t>CORE SOLUTION HIGHLIGHTS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• ChatGPT-like Conversational UI: Natural language text &amp; voice query input.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• 5 Function-Calling Agent Tools: get_schema, execute_query, generate_chart, generate_flowchart, explain_data.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• SQL Transparency &amp; Rerun Modal: Inspect, copy, and edit generated SQL in real time before execution.</a:t>
            </a:r>
          </a:p>
          <a:p>
            <a:pPr>
              <a:defRPr sz="1400">
                <a:solidFill>
                  <a:srgbClr val="0F172A"/>
                </a:solidFill>
              </a:defRPr>
            </a:pPr>
            <a:r>
              <a:t>• Live Table Redirection: Clickable table pills in chat that launch inline raw data drawers.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74320" rtlCol="0" anchor="ctr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INNOVATION &amp; KEY DIFFERENTIATORS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✔ Three.js 3D &amp; Anime.js Visual Core: Interactive 3D particle database backdrop reacting to scroll up/down.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✔ Multi-Database Architecture: Unified support for SQLite, Supabase PostgreSQL, and Firebase NoSQL.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✔ Unstructured Document Logs: Login attempts and chat interactions saved as NoSQL JSON documents.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✔ Export Capabilities: 1-click dataset CSV export + SVG chart and Mermaid diagram downloads.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228600" rtlCol="0" anchor="ctr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OBJECTIVE &amp;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93776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365760" rtlCol="0" anchor="ctr"/>
          <a:lstStyle/>
          <a:p>
            <a:pPr algn="ctr"/>
            <a:endParaRPr/>
          </a:p>
          <a:p>
            <a:pPr>
              <a:defRPr sz="1400" b="1">
                <a:solidFill>
                  <a:srgbClr val="C8102E"/>
                </a:solidFill>
              </a:defRPr>
            </a:pPr>
            <a:r>
              <a:t>🎯 Primary Objective 1 - Conversational Command Center: </a:t>
            </a:r>
            <a:r>
              <a:rPr b="0">
                <a:solidFill>
                  <a:srgbClr val="0F172A"/>
                </a:solidFill>
              </a:rPr>
              <a:t>Build an intuitive React + Vite chat workspace allowing non-technical users to query database tables using natural language.</a:t>
            </a:r>
          </a:p>
          <a:p>
            <a:pPr>
              <a:defRPr sz="1400" b="1">
                <a:solidFill>
                  <a:srgbClr val="C8102E"/>
                </a:solidFill>
              </a:defRPr>
            </a:pPr>
            <a:r>
              <a:t>🎯 Primary Objective 2 - LLM Agent Tool Development: </a:t>
            </a:r>
            <a:r>
              <a:rPr b="0">
                <a:solidFill>
                  <a:srgbClr val="0F172A"/>
                </a:solidFill>
              </a:rPr>
              <a:t>Construct 5 custom function-calling tools in Python FastAPI for database schema discovery, query execution, charting, diagrams, and explanations.</a:t>
            </a:r>
          </a:p>
          <a:p>
            <a:pPr>
              <a:defRPr sz="1400" b="1">
                <a:solidFill>
                  <a:srgbClr val="C8102E"/>
                </a:solidFill>
              </a:defRPr>
            </a:pPr>
            <a:r>
              <a:t>🎯 Primary Objective 3 - Dynamic Visualization Workspace: </a:t>
            </a:r>
            <a:r>
              <a:rPr b="0">
                <a:solidFill>
                  <a:srgbClr val="0F172A"/>
                </a:solidFill>
              </a:rPr>
              <a:t>Support Bar, Line, Pie, Scatter, and Area charts with a manual chart-type switcher and accessible data table fallbacks.</a:t>
            </a:r>
          </a:p>
          <a:p>
            <a:pPr>
              <a:defRPr sz="1400" b="1">
                <a:solidFill>
                  <a:srgbClr val="C8102E"/>
                </a:solidFill>
              </a:defRPr>
            </a:pPr>
            <a:r>
              <a:t>🎯 Secondary Objective 1 - Multi-Turn Context Retention: </a:t>
            </a:r>
            <a:r>
              <a:rPr b="0">
                <a:solidFill>
                  <a:srgbClr val="0F172A"/>
                </a:solidFill>
              </a:rPr>
              <a:t>Persist chat session history across turns using SQLite app_state.db and maintain context awareness.</a:t>
            </a:r>
          </a:p>
          <a:p>
            <a:pPr>
              <a:defRPr sz="1400" b="1">
                <a:solidFill>
                  <a:srgbClr val="C8102E"/>
                </a:solidFill>
              </a:defRPr>
            </a:pPr>
            <a:r>
              <a:t>🎯 Secondary Objective 2 - Custom BI Dashboard Builder: </a:t>
            </a:r>
            <a:r>
              <a:rPr b="0">
                <a:solidFill>
                  <a:srgbClr val="0F172A"/>
                </a:solidFill>
              </a:rPr>
              <a:t>Allow users to pin generated charts into a consolidated executive BI Dashboard layout.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228600" rtlCol="0" anchor="ctr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METHODOLOGY — THE 5 AGENT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69848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1. get_schema </a:t>
            </a:r>
            <a:r>
              <a:rPr sz="1400" b="0">
                <a:solidFill>
                  <a:srgbClr val="FFFFFF"/>
                </a:solidFill>
              </a:rPr>
              <a:t>— Inspects tables, column types, primary keys, foreign keys, and NoSQL collection schemas.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1069848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1600" b="1">
                <a:solidFill>
                  <a:srgbClr val="C8102E"/>
                </a:solidFill>
              </a:defRPr>
            </a:pPr>
            <a:r>
              <a:t>2. execute_query </a:t>
            </a:r>
            <a:r>
              <a:rPr sz="1400" b="0">
                <a:solidFill>
                  <a:srgbClr val="0F172A"/>
                </a:solidFill>
              </a:rPr>
              <a:t>— Safe read-only SELECT validator. Executes queries and returns row count, duration (ms), and column types.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40"/>
            <a:ext cx="1069848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3. generate_chart </a:t>
            </a:r>
            <a:r>
              <a:rPr sz="1400" b="0">
                <a:solidFill>
                  <a:srgbClr val="FFFFFF"/>
                </a:solidFill>
              </a:rPr>
              <a:t>— Generates Bar, Line, Pie, Scatter, and Area chart configurations using Recharts.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97680"/>
            <a:ext cx="1069848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1600" b="1">
                <a:solidFill>
                  <a:srgbClr val="C8102E"/>
                </a:solidFill>
              </a:defRPr>
            </a:pPr>
            <a:r>
              <a:t>4. generate_flowchart </a:t>
            </a:r>
            <a:r>
              <a:rPr sz="1400" b="0">
                <a:solidFill>
                  <a:srgbClr val="0F172A"/>
                </a:solidFill>
              </a:rPr>
              <a:t>— Renders Mermaid.js ER Diagrams (erDiagram) and Process Flow Pipelines (graph TD).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1069848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5. explain_data </a:t>
            </a:r>
            <a:r>
              <a:rPr sz="1400" b="0">
                <a:solidFill>
                  <a:srgbClr val="FFFFFF"/>
                </a:solidFill>
              </a:rPr>
              <a:t>— Synthesizes conversational data summaries, key metrics, and strategic recommendations.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228600" rtlCol="0" anchor="ctr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WORKFLOW &amp; DATA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146304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tlCol="0" anchor="ctr"/>
          <a:lstStyle/>
          <a:p>
            <a:pPr algn="ctr">
              <a:defRPr sz="1600" b="1">
                <a:solidFill>
                  <a:srgbClr val="C8102E"/>
                </a:solidFill>
              </a:defRPr>
            </a:pPr>
            <a:r>
              <a:t>Step 1: User Query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User inputs text or uses Speech-to-Text voice query in Command Center UI.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371600"/>
            <a:ext cx="5120640" cy="146304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tlCol="0" anchor="ctr"/>
          <a:lstStyle/>
          <a:p>
            <a:pPr algn="ctr">
              <a:defRPr sz="1600" b="1">
                <a:solidFill>
                  <a:srgbClr val="C8102E"/>
                </a:solidFill>
              </a:defRPr>
            </a:pPr>
            <a:r>
              <a:t>Step 2: Schema Discovery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Agent invokes get_schema() to fetch table columns &amp; relationships.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5120640" cy="146304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tlCol="0" anchor="ctr"/>
          <a:lstStyle/>
          <a:p>
            <a:pPr algn="ctr">
              <a:defRPr sz="1600" b="1">
                <a:solidFill>
                  <a:srgbClr val="C8102E"/>
                </a:solidFill>
              </a:defRPr>
            </a:pPr>
            <a:r>
              <a:t>Step 3: SQL Generation &amp; Validation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Agent translates query to SELECT statement; validates read-only security.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017520"/>
            <a:ext cx="5120640" cy="146304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tlCol="0" anchor="ctr"/>
          <a:lstStyle/>
          <a:p>
            <a:pPr algn="ctr">
              <a:defRPr sz="1600" b="1">
                <a:solidFill>
                  <a:srgbClr val="C8102E"/>
                </a:solidFill>
              </a:defRPr>
            </a:pPr>
            <a:r>
              <a:t>Step 4: Query Execution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execute_query() executes query against DB, returning rows and duration.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5120640" cy="146304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tlCol="0" anchor="ctr"/>
          <a:lstStyle/>
          <a:p>
            <a:pPr algn="ctr">
              <a:defRPr sz="1600" b="1">
                <a:solidFill>
                  <a:srgbClr val="C8102E"/>
                </a:solidFill>
              </a:defRPr>
            </a:pPr>
            <a:r>
              <a:t>Step 5: Visualization &amp; Insights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generate_chart() renders Recharts; explain_data() synthesizes insights.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663440"/>
            <a:ext cx="5120640" cy="146304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82880" rtlCol="0" anchor="ctr"/>
          <a:lstStyle/>
          <a:p>
            <a:pPr algn="ctr">
              <a:defRPr sz="1600" b="1">
                <a:solidFill>
                  <a:srgbClr val="C8102E"/>
                </a:solidFill>
              </a:defRPr>
            </a:pPr>
            <a:r>
              <a:t>Step 6: NoSQL Audit Logging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Interaction is logged as an unstructured NoSQL document in chat_logs.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228600" rtlCol="0" anchor="ctr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698480" cy="105156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tlCol="0" anchor="ctr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ZONE 1: PRESENTATION LAYER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React 18 + Vite | Three.js 3D particle background | Anime.js spring physics | Recharts | Mermaid.js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698480" cy="105156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tlCol="0" anchor="ctr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ZONE 2: BACKEND API &amp; AUTH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Python 3.12 FastAPI | Google OAuth 2.0 Token Verification | Cors Middleware | Web Speech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49039"/>
            <a:ext cx="10698480" cy="105156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tlCol="0" anchor="ctr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ZONE 3: LLM AGENT ENGINE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Google Gemini 2.5 Flash Function Calling Engine | 5 Agent Tools | Local Smart Fallback Orchestrator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0698480" cy="105156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tlCol="0" anchor="ctr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ZONE 4: MULTI-DATABASE LAYER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SQLite (ecommerce.db) | Supabase PostgreSQL | Firebase Firestore NoSQL | Unstructured Document Logs DB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228600" rtlCol="0" anchor="ctr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IMPLEMENTATION &amp; FEASIBILITY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93776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365760" rtlCol="0" anchor="ctr"/>
          <a:lstStyle/>
          <a:p>
            <a:pPr algn="ctr"/>
            <a:endParaRPr/>
          </a:p>
          <a:p>
            <a:pPr>
              <a:defRPr sz="1500" b="1">
                <a:solidFill>
                  <a:srgbClr val="C8102E"/>
                </a:solidFill>
              </a:defRPr>
            </a:pPr>
            <a:r>
              <a:t>🔒 Read-Only SQL Safety Guard: </a:t>
            </a:r>
            <a:r>
              <a:rPr b="0">
                <a:solidFill>
                  <a:srgbClr val="0F172A"/>
                </a:solidFill>
              </a:rPr>
              <a:t>Query tool strictly validates SELECT statements, preventing any unauthorized INSERT, UPDATE, DELETE, or DROP database operations.</a:t>
            </a:r>
          </a:p>
          <a:p>
            <a:endParaRPr b="0">
              <a:solidFill>
                <a:srgbClr val="0F172A"/>
              </a:solidFill>
            </a:endParaRPr>
          </a:p>
          <a:p>
            <a:pPr>
              <a:defRPr sz="1500" b="1">
                <a:solidFill>
                  <a:srgbClr val="C8102E"/>
                </a:solidFill>
              </a:defRPr>
            </a:pPr>
            <a:r>
              <a:t>🔒 Google OAuth 2.0 Authorization: </a:t>
            </a:r>
            <a:r>
              <a:rPr b="0">
                <a:solidFill>
                  <a:srgbClr val="0F172A"/>
                </a:solidFill>
              </a:rPr>
              <a:t>Full token verification with JWT session management and unstructured login audit logging (login_logs).</a:t>
            </a:r>
          </a:p>
          <a:p>
            <a:endParaRPr b="0">
              <a:solidFill>
                <a:srgbClr val="0F172A"/>
              </a:solidFill>
            </a:endParaRPr>
          </a:p>
          <a:p>
            <a:pPr>
              <a:defRPr sz="1500" b="1">
                <a:solidFill>
                  <a:srgbClr val="C8102E"/>
                </a:solidFill>
              </a:defRPr>
            </a:pPr>
            <a:r>
              <a:t>🔒 Automated Pytest Suite: </a:t>
            </a:r>
            <a:r>
              <a:rPr b="0">
                <a:solidFill>
                  <a:srgbClr val="0F172A"/>
                </a:solidFill>
              </a:rPr>
              <a:t>100% test coverage across all 5 agent tool functions (python -m pytest backend/tests/test_tools.py passed 6/6 tests in 0.24s).</a:t>
            </a:r>
          </a:p>
          <a:p>
            <a:endParaRPr b="0">
              <a:solidFill>
                <a:srgbClr val="0F172A"/>
              </a:solidFill>
            </a:endParaRPr>
          </a:p>
          <a:p>
            <a:pPr>
              <a:defRPr sz="1500" b="1">
                <a:solidFill>
                  <a:srgbClr val="C8102E"/>
                </a:solidFill>
              </a:defRPr>
            </a:pPr>
            <a:r>
              <a:t>🔒 1-Command Docker Deployment: </a:t>
            </a:r>
            <a:r>
              <a:rPr b="0">
                <a:solidFill>
                  <a:srgbClr val="0F172A"/>
                </a:solidFill>
              </a:rPr>
              <a:t>Includes production-ready Dockerfile and docker-compose.yml for easy containerized deployment.</a:t>
            </a:r>
          </a:p>
          <a:p>
            <a:endParaRPr b="0">
              <a:solidFill>
                <a:srgbClr val="0F172A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228600" rtlCol="0" anchor="ctr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rPr lang="en-US" noProof="0" dirty="0"/>
              <a:t>IMPACT AND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365760" rtlCol="0" anchor="ctr"/>
          <a:lstStyle/>
          <a:p>
            <a:pPr algn="ctr">
              <a:defRPr sz="1800" b="1">
                <a:solidFill>
                  <a:srgbClr val="C8102E"/>
                </a:solidFill>
              </a:defRPr>
            </a:pPr>
            <a:r>
              <a:rPr lang="en-US" noProof="0" dirty="0"/>
              <a:t>SOCIAL IMPACT</a:t>
            </a:r>
          </a:p>
          <a:p>
            <a:br>
              <a:rPr lang="en-US" noProof="0" dirty="0"/>
            </a:br>
            <a:r>
              <a:rPr lang="en-US" noProof="0" dirty="0">
                <a:solidFill>
                  <a:srgbClr val="FF0000"/>
                </a:solidFill>
              </a:rPr>
              <a:t>Democratizes data analytics for non-technical employees, breaking down technological barriers.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0F172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365760" rtlCol="0" anchor="ctr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rPr lang="en-US" noProof="0" dirty="0"/>
              <a:t>ECONOMIC IMPACT</a:t>
            </a:r>
          </a:p>
          <a:p>
            <a:br>
              <a:rPr lang="en-US" noProof="0" dirty="0"/>
            </a:br>
            <a:r>
              <a:rPr lang="en-US" noProof="0" dirty="0"/>
              <a:t>Reduces custom BI dashboard development costs by over 80% and slashes report turnaround from days to seconds.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365760" rtlCol="0" anchor="ctr"/>
          <a:lstStyle/>
          <a:p>
            <a:pPr algn="ctr">
              <a:defRPr sz="1800" b="1">
                <a:solidFill>
                  <a:srgbClr val="C8102E"/>
                </a:solidFill>
              </a:defRPr>
            </a:pPr>
            <a:r>
              <a:rPr lang="en-US" noProof="0" dirty="0"/>
              <a:t>TECHNICAL IMPACT</a:t>
            </a:r>
          </a:p>
          <a:p>
            <a:br>
              <a:rPr lang="en-US" noProof="0" dirty="0"/>
            </a:br>
            <a:r>
              <a:rPr lang="en-US" noProof="0" dirty="0">
                <a:solidFill>
                  <a:srgbClr val="FF0000"/>
                </a:solidFill>
              </a:rPr>
              <a:t>Provides full SQL transparency, query timing, multi-database adaptability, and audit logging.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228600" rtlCol="0" anchor="ctr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RESEARCH &amp; 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937760"/>
          </a:xfrm>
          <a:prstGeom prst="roundRect">
            <a:avLst/>
          </a:prstGeom>
          <a:solidFill>
            <a:srgbClr val="F1F5F9"/>
          </a:solidFill>
          <a:ln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365760" rtlCol="0" anchor="ctr"/>
          <a:lstStyle/>
          <a:p>
            <a:pPr algn="ctr"/>
            <a:endParaRPr/>
          </a:p>
          <a:p>
            <a:pPr>
              <a:defRPr sz="1500" b="1">
                <a:solidFill>
                  <a:srgbClr val="C8102E"/>
                </a:solidFill>
              </a:defRPr>
            </a:pPr>
            <a:r>
              <a:t>📚 Google Gemini API Function Calling: </a:t>
            </a:r>
            <a:r>
              <a:rPr b="0">
                <a:solidFill>
                  <a:srgbClr val="0F172A"/>
                </a:solidFill>
              </a:rPr>
              <a:t>Official tool-calling SDK specifications for LLM agent structured function execution.</a:t>
            </a:r>
          </a:p>
          <a:p>
            <a:pPr>
              <a:defRPr sz="1500" b="1">
                <a:solidFill>
                  <a:srgbClr val="C8102E"/>
                </a:solidFill>
              </a:defRPr>
            </a:pPr>
            <a:r>
              <a:t>📚 Mermaid.js Diagram Specification: </a:t>
            </a:r>
            <a:r>
              <a:rPr b="0">
                <a:solidFill>
                  <a:srgbClr val="0F172A"/>
                </a:solidFill>
              </a:rPr>
              <a:t>Entity-Relationship (erDiagram) and Process Flowchart (graph TD) syntax standards.</a:t>
            </a:r>
          </a:p>
          <a:p>
            <a:pPr>
              <a:defRPr sz="1500" b="1">
                <a:solidFill>
                  <a:srgbClr val="C8102E"/>
                </a:solidFill>
              </a:defRPr>
            </a:pPr>
            <a:r>
              <a:t>📚 GitHub Source Code Repository: </a:t>
            </a:r>
            <a:r>
              <a:rPr b="0">
                <a:solidFill>
                  <a:srgbClr val="0F172A"/>
                </a:solidFill>
              </a:rPr>
              <a:t>https://github.com/vabhijit516-bot/sqlllm</a:t>
            </a:r>
          </a:p>
          <a:p>
            <a:pPr>
              <a:defRPr sz="1500" b="1">
                <a:solidFill>
                  <a:srgbClr val="C8102E"/>
                </a:solidFill>
              </a:defRPr>
            </a:pPr>
            <a:r>
              <a:t>📚 Live Web Application Deployment: </a:t>
            </a:r>
            <a:r>
              <a:rPr b="0">
                <a:solidFill>
                  <a:srgbClr val="0F172A"/>
                </a:solidFill>
              </a:rPr>
              <a:t>http://localhost:5173</a:t>
            </a:r>
          </a:p>
          <a:p>
            <a:pPr>
              <a:defRPr sz="1500" b="1">
                <a:solidFill>
                  <a:srgbClr val="C8102E"/>
                </a:solidFill>
              </a:defRPr>
            </a:pPr>
            <a:r>
              <a:t>📚 FastAPI Backend &amp; Swagger Documentation: </a:t>
            </a:r>
            <a:r>
              <a:rPr b="0">
                <a:solidFill>
                  <a:srgbClr val="0F172A"/>
                </a:solidFill>
              </a:rPr>
              <a:t>http://localhost:8000/docs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1084</Words>
  <Application>Microsoft Office PowerPoint</Application>
  <PresentationFormat>Widescreen</PresentationFormat>
  <Paragraphs>92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vabi3388@outlook.com</cp:lastModifiedBy>
  <cp:revision>1</cp:revision>
  <dcterms:created xsi:type="dcterms:W3CDTF">2013-01-27T09:14:16Z</dcterms:created>
  <dcterms:modified xsi:type="dcterms:W3CDTF">2026-09-15T16:15:41Z</dcterms:modified>
  <cp:category/>
</cp:coreProperties>
</file>