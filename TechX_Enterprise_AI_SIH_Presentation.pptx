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SMART INDIA HACKATHON 2026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TechX Enterprise AI — Intelligent LLM Database Agent &amp; BI Studio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68580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/>
          </a:p>
          <a:p>
            <a:pPr>
              <a:defRPr b="1" sz="1300">
                <a:solidFill>
                  <a:srgbClr val="C8102E"/>
                </a:solidFill>
              </a:defRPr>
            </a:pPr>
            <a:r>
              <a:t>Problem Statement ID: </a:t>
            </a:r>
            <a:r>
              <a:rPr b="0">
                <a:solidFill>
                  <a:srgbClr val="0F172A"/>
                </a:solidFill>
              </a:rPr>
              <a:t>SIH2026-AI-042</a:t>
            </a:r>
          </a:p>
          <a:p>
            <a:pPr>
              <a:defRPr b="1" sz="1300">
                <a:solidFill>
                  <a:srgbClr val="C8102E"/>
                </a:solidFill>
              </a:defRPr>
            </a:pPr>
            <a:r>
              <a:t>Problem Statement Title: </a:t>
            </a:r>
            <a:r>
              <a:rPr b="0">
                <a:solidFill>
                  <a:srgbClr val="0F172A"/>
                </a:solidFill>
              </a:rPr>
              <a:t>Conversational AI Agent for NL Database Querying &amp; Visualization</a:t>
            </a:r>
          </a:p>
          <a:p>
            <a:pPr>
              <a:defRPr b="1" sz="1300">
                <a:solidFill>
                  <a:srgbClr val="C8102E"/>
                </a:solidFill>
              </a:defRPr>
            </a:pPr>
            <a:r>
              <a:t>Theme / Domain: </a:t>
            </a:r>
            <a:r>
              <a:rPr b="0">
                <a:solidFill>
                  <a:srgbClr val="0F172A"/>
                </a:solidFill>
              </a:rPr>
              <a:t>AI / Data Analytics / Enterprise Software</a:t>
            </a:r>
          </a:p>
          <a:p>
            <a:pPr>
              <a:defRPr b="1" sz="1300">
                <a:solidFill>
                  <a:srgbClr val="C8102E"/>
                </a:solidFill>
              </a:defRPr>
            </a:pPr>
            <a:r>
              <a:t>PS Category: </a:t>
            </a:r>
            <a:r>
              <a:rPr b="0">
                <a:solidFill>
                  <a:srgbClr val="0F172A"/>
                </a:solidFill>
              </a:rPr>
              <a:t>Software</a:t>
            </a:r>
          </a:p>
          <a:p>
            <a:pPr>
              <a:defRPr b="1" sz="1300">
                <a:solidFill>
                  <a:srgbClr val="C8102E"/>
                </a:solidFill>
              </a:defRPr>
            </a:pPr>
            <a:r>
              <a:t>Team ID: </a:t>
            </a:r>
            <a:r>
              <a:rPr b="0">
                <a:solidFill>
                  <a:srgbClr val="0F172A"/>
                </a:solidFill>
              </a:rPr>
              <a:t>73869</a:t>
            </a:r>
          </a:p>
          <a:p>
            <a:pPr>
              <a:defRPr b="1" sz="1300">
                <a:solidFill>
                  <a:srgbClr val="C8102E"/>
                </a:solidFill>
              </a:defRPr>
            </a:pPr>
            <a:r>
              <a:t>Team Name: </a:t>
            </a:r>
            <a:r>
              <a:rPr b="0">
                <a:solidFill>
                  <a:srgbClr val="0F172A"/>
                </a:solidFill>
              </a:rPr>
              <a:t>TechX Innovators</a:t>
            </a:r>
          </a:p>
          <a:p>
            <a:pPr>
              <a:defRPr b="1" sz="1300">
                <a:solidFill>
                  <a:srgbClr val="C8102E"/>
                </a:solidFill>
              </a:defRPr>
            </a:pPr>
            <a:r>
              <a:t>Team Leader Name: </a:t>
            </a:r>
            <a:r>
              <a:rPr b="0">
                <a:solidFill>
                  <a:srgbClr val="0F172A"/>
                </a:solidFill>
              </a:rPr>
              <a:t>Abhijit Sharma</a:t>
            </a:r>
          </a:p>
          <a:p>
            <a:pPr>
              <a:defRPr b="1" sz="1300">
                <a:solidFill>
                  <a:srgbClr val="C8102E"/>
                </a:solidFill>
              </a:defRPr>
            </a:pPr>
            <a:r>
              <a:t>Team Members: </a:t>
            </a:r>
            <a:r>
              <a:rPr b="0">
                <a:solidFill>
                  <a:srgbClr val="0F172A"/>
                </a:solidFill>
              </a:rPr>
              <a:t>Abhijit Sharma, Data Engineer, UI/UX Lead, Backend Architect, QA Auditor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828800"/>
            <a:ext cx="347472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0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TECHX ENTERPRISE AI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Natural Language SQL/NoSQL Execution</a:t>
            </a:r>
            <a:br/>
            <a:r>
              <a:t>+ 3D Interactive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/>
          </a:p>
          <a:p>
            <a:pPr>
              <a:defRPr b="1" sz="1500">
                <a:solidFill>
                  <a:srgbClr val="C8102E"/>
                </a:solidFill>
              </a:defRPr>
            </a:pPr>
            <a:r>
              <a:t>• Data Barrier for Non-Technical Users: </a:t>
            </a:r>
            <a:r>
              <a:rPr b="0">
                <a:solidFill>
                  <a:srgbClr val="0F172A"/>
                </a:solidFill>
              </a:rPr>
              <a:t>Business analysts, executives, and managers struggle to write complex SQL queries or joins, creating dependency bottlenecks on data teams.</a:t>
            </a:r>
          </a:p>
          <a:p/>
          <a:p>
            <a:pPr>
              <a:defRPr b="1" sz="1500">
                <a:solidFill>
                  <a:srgbClr val="C8102E"/>
                </a:solidFill>
              </a:defRPr>
            </a:pPr>
            <a:r>
              <a:t>• Slow Turnaround for Custom Analytics: </a:t>
            </a:r>
            <a:r>
              <a:rPr b="0">
                <a:solidFill>
                  <a:srgbClr val="0F172A"/>
                </a:solidFill>
              </a:rPr>
              <a:t>Building custom BI dashboards and query reports manually takes days or weeks, delaying urgent operational decision-making.</a:t>
            </a:r>
          </a:p>
          <a:p/>
          <a:p>
            <a:pPr>
              <a:defRPr b="1" sz="1500">
                <a:solidFill>
                  <a:srgbClr val="C8102E"/>
                </a:solidFill>
              </a:defRPr>
            </a:pPr>
            <a:r>
              <a:t>• Lack of Query Transparency &amp; Trust: </a:t>
            </a:r>
            <a:r>
              <a:rPr b="0">
                <a:solidFill>
                  <a:srgbClr val="0F172A"/>
                </a:solidFill>
              </a:rPr>
              <a:t>Traditional BI systems obscure generated SQL code, making it difficult for developers and auditors to verify query logic or safety.</a:t>
            </a:r>
          </a:p>
          <a:p/>
          <a:p>
            <a:pPr>
              <a:defRPr b="1" sz="1500">
                <a:solidFill>
                  <a:srgbClr val="C8102E"/>
                </a:solidFill>
              </a:defRPr>
            </a:pPr>
            <a:r>
              <a:t>• Multi-Database Fragmentation: </a:t>
            </a:r>
            <a:r>
              <a:rPr b="0">
                <a:solidFill>
                  <a:srgbClr val="0F172A"/>
                </a:solidFill>
              </a:rPr>
              <a:t>Modern enterprises maintain separate SQL relational databases (PostgreSQL/SQLite) and NoSQL document stores (Firestore), requiring fragmented query tools.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PROPOSED SOLUTION /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800">
                <a:solidFill>
                  <a:srgbClr val="C8102E"/>
                </a:solidFill>
              </a:defRPr>
            </a:pPr>
            <a:r>
              <a:t>CORE SOLUTION HIGHLIGHTS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ChatGPT-like Conversational UI: Natural language text &amp; voice query input.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5 Function-Calling Agent Tools: get_schema, execute_query, generate_chart, generate_flowchart, explain_data.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SQL Transparency &amp; Rerun Modal: Inspect, copy, and edit generated SQL in real time before execution.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Live Table Redirection: Clickable table pills in chat that launch inline raw data drawers.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800">
                <a:solidFill>
                  <a:srgbClr val="06B6D4"/>
                </a:solidFill>
              </a:defRPr>
            </a:pPr>
            <a:r>
              <a:t>INNOVATION &amp; KEY DIFFERENTIATORS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✔ Three.js 3D &amp; Anime.js Visual Core: Interactive 3D particle database backdrop reacting to scroll up/down.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✔ Multi-Database Architecture: Unified support for SQLite, Supabase PostgreSQL, and Firebase NoSQL.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✔ Unstructured Document Logs: Login attempts and chat interactions saved as NoSQL JSON documents.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✔ Export Capabilities: 1-click dataset CSV export + SVG chart and Mermaid diagram downloads.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OBJECTIVE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/>
          </a:p>
          <a:p>
            <a:pPr>
              <a:defRPr b="1" sz="1400">
                <a:solidFill>
                  <a:srgbClr val="C8102E"/>
                </a:solidFill>
              </a:defRPr>
            </a:pPr>
            <a:r>
              <a:t>🎯 Primary Objective 1 - Conversational Command Center: </a:t>
            </a:r>
            <a:r>
              <a:rPr b="0">
                <a:solidFill>
                  <a:srgbClr val="0F172A"/>
                </a:solidFill>
              </a:rPr>
              <a:t>Build an intuitive React + Vite chat workspace allowing non-technical users to query database tables using natural language.</a:t>
            </a:r>
          </a:p>
          <a:p>
            <a:pPr>
              <a:defRPr b="1" sz="1400">
                <a:solidFill>
                  <a:srgbClr val="C8102E"/>
                </a:solidFill>
              </a:defRPr>
            </a:pPr>
            <a:r>
              <a:t>🎯 Primary Objective 2 - LLM Agent Tool Development: </a:t>
            </a:r>
            <a:r>
              <a:rPr b="0">
                <a:solidFill>
                  <a:srgbClr val="0F172A"/>
                </a:solidFill>
              </a:rPr>
              <a:t>Construct 5 custom function-calling tools in Python FastAPI for database schema discovery, query execution, charting, diagrams, and explanations.</a:t>
            </a:r>
          </a:p>
          <a:p>
            <a:pPr>
              <a:defRPr b="1" sz="1400">
                <a:solidFill>
                  <a:srgbClr val="C8102E"/>
                </a:solidFill>
              </a:defRPr>
            </a:pPr>
            <a:r>
              <a:t>🎯 Primary Objective 3 - Dynamic Visualization Workspace: </a:t>
            </a:r>
            <a:r>
              <a:rPr b="0">
                <a:solidFill>
                  <a:srgbClr val="0F172A"/>
                </a:solidFill>
              </a:rPr>
              <a:t>Support Bar, Line, Pie, Scatter, and Area charts with a manual chart-type switcher and accessible data table fallbacks.</a:t>
            </a:r>
          </a:p>
          <a:p>
            <a:pPr>
              <a:defRPr b="1" sz="1400">
                <a:solidFill>
                  <a:srgbClr val="C8102E"/>
                </a:solidFill>
              </a:defRPr>
            </a:pPr>
            <a:r>
              <a:t>🎯 Secondary Objective 1 - Multi-Turn Context Retention: </a:t>
            </a:r>
            <a:r>
              <a:rPr b="0">
                <a:solidFill>
                  <a:srgbClr val="0F172A"/>
                </a:solidFill>
              </a:rPr>
              <a:t>Persist chat session history across turns using SQLite app_state.db and maintain context awareness.</a:t>
            </a:r>
          </a:p>
          <a:p>
            <a:pPr>
              <a:defRPr b="1" sz="1400">
                <a:solidFill>
                  <a:srgbClr val="C8102E"/>
                </a:solidFill>
              </a:defRPr>
            </a:pPr>
            <a:r>
              <a:t>🎯 Secondary Objective 2 - Custom BI Dashboard Builder: </a:t>
            </a:r>
            <a:r>
              <a:rPr b="0">
                <a:solidFill>
                  <a:srgbClr val="0F172A"/>
                </a:solidFill>
              </a:rPr>
              <a:t>Allow users to pin generated charts into a consolidated executive BI Dashboard 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METHODOLOGY — THE 5 AGENT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1. get_schema </a:t>
            </a:r>
            <a:r>
              <a:rPr b="0" sz="1400">
                <a:solidFill>
                  <a:srgbClr val="FFFFFF"/>
                </a:solidFill>
              </a:rPr>
              <a:t>— Inspects tables, column types, primary keys, foreign keys, and NoSQL collection schemas.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b="1" sz="1600">
                <a:solidFill>
                  <a:srgbClr val="C8102E"/>
                </a:solidFill>
              </a:defRPr>
            </a:pPr>
            <a:r>
              <a:t>2. execute_query </a:t>
            </a:r>
            <a:r>
              <a:rPr b="0" sz="1400">
                <a:solidFill>
                  <a:srgbClr val="0F172A"/>
                </a:solidFill>
              </a:rPr>
              <a:t>— Safe read-only SELECT validator. Executes queries and returns row count, duration (ms), and column types.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3. generate_chart </a:t>
            </a:r>
            <a:r>
              <a:rPr b="0" sz="1400">
                <a:solidFill>
                  <a:srgbClr val="FFFFFF"/>
                </a:solidFill>
              </a:rPr>
              <a:t>— Generates Bar, Line, Pie, Scatter, and Area chart configurations using Recharts.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b="1" sz="1600">
                <a:solidFill>
                  <a:srgbClr val="C8102E"/>
                </a:solidFill>
              </a:defRPr>
            </a:pPr>
            <a:r>
              <a:t>4. generate_flowchart </a:t>
            </a:r>
            <a:r>
              <a:rPr b="0" sz="1400">
                <a:solidFill>
                  <a:srgbClr val="0F172A"/>
                </a:solidFill>
              </a:rPr>
              <a:t>— Renders Mermaid.js ER Diagrams (erDiagram) and Process Flow Pipelines (graph TD).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5. explain_data </a:t>
            </a:r>
            <a:r>
              <a:rPr b="0" sz="1400">
                <a:solidFill>
                  <a:srgbClr val="FFFFFF"/>
                </a:solidFill>
              </a:rPr>
              <a:t>— Synthesizes conversational data summaries, key metrics, and strategic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WORKFLOW &amp;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600">
                <a:solidFill>
                  <a:srgbClr val="C8102E"/>
                </a:solidFill>
              </a:defRPr>
            </a:pPr>
            <a:r>
              <a:t>Step 1: User Query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User inputs text or uses Speech-to-Text voice query in Command Center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12064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600">
                <a:solidFill>
                  <a:srgbClr val="C8102E"/>
                </a:solidFill>
              </a:defRPr>
            </a:pPr>
            <a:r>
              <a:t>Step 2: Schema Discovery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Agent invokes get_schema() to fetch table columns &amp;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600">
                <a:solidFill>
                  <a:srgbClr val="C8102E"/>
                </a:solidFill>
              </a:defRPr>
            </a:pPr>
            <a:r>
              <a:t>Step 3: SQL Generation &amp; Validation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Agent translates query to SELECT statement; validates read-only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017520"/>
            <a:ext cx="512064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600">
                <a:solidFill>
                  <a:srgbClr val="C8102E"/>
                </a:solidFill>
              </a:defRPr>
            </a:pPr>
            <a:r>
              <a:t>Step 4: Query Execution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execute_query() executes query against DB, returning rows and duration.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600">
                <a:solidFill>
                  <a:srgbClr val="C8102E"/>
                </a:solidFill>
              </a:defRPr>
            </a:pPr>
            <a:r>
              <a:t>Step 5: Visualization &amp; Insights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generate_chart() renders Recharts; explain_data() synthesizes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663440"/>
            <a:ext cx="512064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600">
                <a:solidFill>
                  <a:srgbClr val="C8102E"/>
                </a:solidFill>
              </a:defRPr>
            </a:pPr>
            <a:r>
              <a:t>Step 6: NoSQL Audit Logging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Interaction is logged as an unstructured NoSQL document in chat_logs.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ZONE 1: PRESENTATION LAYER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React 18 + Vite | Three.js 3D particle background | Anime.js spring physics | Recharts | Mermaid.js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06984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ZONE 2: BACKEND API &amp; AUTH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Python 3.12 FastAPI | Google OAuth 2.0 Token Verification | Cors Middleware | Web Speech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6984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ZONE 3: LLM AGENT ENGINE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Google Gemini 2.5 Flash Function Calling Engine | 5 Agent Tools | Local Smart Fallback 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06984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ZONE 4: MULTI-DATABASE LAYER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SQLite (ecommerce.db) | Supabase PostgreSQL | Firebase Firestore NoSQL | Unstructured Document Logs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IMPLEMENTATION &amp;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/>
          </a:p>
          <a:p>
            <a:pPr>
              <a:defRPr b="1" sz="1500">
                <a:solidFill>
                  <a:srgbClr val="C8102E"/>
                </a:solidFill>
              </a:defRPr>
            </a:pPr>
            <a:r>
              <a:t>🔒 Read-Only SQL Safety Guard: </a:t>
            </a:r>
            <a:r>
              <a:rPr b="0">
                <a:solidFill>
                  <a:srgbClr val="0F172A"/>
                </a:solidFill>
              </a:rPr>
              <a:t>Query tool strictly validates SELECT statements, preventing any unauthorized INSERT, UPDATE, DELETE, or DROP database operations.</a:t>
            </a:r>
          </a:p>
          <a:p/>
          <a:p>
            <a:pPr>
              <a:defRPr b="1" sz="1500">
                <a:solidFill>
                  <a:srgbClr val="C8102E"/>
                </a:solidFill>
              </a:defRPr>
            </a:pPr>
            <a:r>
              <a:t>🔒 Google OAuth 2.0 Authorization: </a:t>
            </a:r>
            <a:r>
              <a:rPr b="0">
                <a:solidFill>
                  <a:srgbClr val="0F172A"/>
                </a:solidFill>
              </a:rPr>
              <a:t>Full token verification with JWT session management and unstructured login audit logging (login_logs).</a:t>
            </a:r>
          </a:p>
          <a:p/>
          <a:p>
            <a:pPr>
              <a:defRPr b="1" sz="1500">
                <a:solidFill>
                  <a:srgbClr val="C8102E"/>
                </a:solidFill>
              </a:defRPr>
            </a:pPr>
            <a:r>
              <a:t>🔒 Automated Pytest Suite: </a:t>
            </a:r>
            <a:r>
              <a:rPr b="0">
                <a:solidFill>
                  <a:srgbClr val="0F172A"/>
                </a:solidFill>
              </a:rPr>
              <a:t>100% test coverage across all 5 agent tool functions (python -m pytest backend/tests/test_tools.py passed 6/6 tests in 0.24s).</a:t>
            </a:r>
          </a:p>
          <a:p/>
          <a:p>
            <a:pPr>
              <a:defRPr b="1" sz="1500">
                <a:solidFill>
                  <a:srgbClr val="C8102E"/>
                </a:solidFill>
              </a:defRPr>
            </a:pPr>
            <a:r>
              <a:t>🔒 1-Command Docker Deployment: </a:t>
            </a:r>
            <a:r>
              <a:rPr b="0">
                <a:solidFill>
                  <a:srgbClr val="0F172A"/>
                </a:solidFill>
              </a:rPr>
              <a:t>Includes production-ready Dockerfile and docker-compose.yml for easy containerized deployment.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65760"/>
          <a:lstStyle/>
          <a:p>
            <a:pPr algn="ctr">
              <a:defRPr b="1" sz="1800">
                <a:solidFill>
                  <a:srgbClr val="C8102E"/>
                </a:solidFill>
              </a:defRPr>
            </a:pPr>
            <a:r>
              <a:t>SOCIAL IMPACT</a:t>
            </a:r>
          </a:p>
          <a:p>
            <a:br/>
            <a:pPr>
              <a:defRPr sz="1400">
                <a:solidFill>
                  <a:srgbClr val="0F172A"/>
                </a:solidFill>
              </a:defRPr>
            </a:pPr>
            <a:r>
              <a:t>Democratizes data analytics for non-technical employees, breaking down technological barriers.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65760"/>
          <a:lstStyle/>
          <a:p>
            <a:pPr algn="ctr">
              <a:defRPr b="1" sz="1800">
                <a:solidFill>
                  <a:srgbClr val="06B6D4"/>
                </a:solidFill>
              </a:defRPr>
            </a:pPr>
            <a:r>
              <a:t>ECONOMIC IMPACT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Reduces custom BI dashboard development costs by over 80% and slashes report turnaround from days to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365760"/>
          <a:lstStyle/>
          <a:p>
            <a:pPr algn="ctr">
              <a:defRPr b="1" sz="1800">
                <a:solidFill>
                  <a:srgbClr val="C8102E"/>
                </a:solidFill>
              </a:defRPr>
            </a:pPr>
            <a:r>
              <a:t>TECHNICAL IMPACT</a:t>
            </a:r>
          </a:p>
          <a:p>
            <a:br/>
            <a:pPr>
              <a:defRPr sz="1400">
                <a:solidFill>
                  <a:srgbClr val="0F172A"/>
                </a:solidFill>
              </a:defRPr>
            </a:pPr>
            <a:r>
              <a:t>Provides full SQL transparency, query timing, multi-database adaptability, and audit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RESEARCH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/>
          </a:p>
          <a:p>
            <a:pPr>
              <a:defRPr b="1" sz="1500">
                <a:solidFill>
                  <a:srgbClr val="C8102E"/>
                </a:solidFill>
              </a:defRPr>
            </a:pPr>
            <a:r>
              <a:t>📚 Google Gemini API Function Calling: </a:t>
            </a:r>
            <a:r>
              <a:rPr b="0">
                <a:solidFill>
                  <a:srgbClr val="0F172A"/>
                </a:solidFill>
              </a:rPr>
              <a:t>Official tool-calling SDK specifications for LLM agent structured function execution.</a:t>
            </a:r>
          </a:p>
          <a:p>
            <a:pPr>
              <a:defRPr b="1" sz="1500">
                <a:solidFill>
                  <a:srgbClr val="C8102E"/>
                </a:solidFill>
              </a:defRPr>
            </a:pPr>
            <a:r>
              <a:t>📚 Mermaid.js Diagram Specification: </a:t>
            </a:r>
            <a:r>
              <a:rPr b="0">
                <a:solidFill>
                  <a:srgbClr val="0F172A"/>
                </a:solidFill>
              </a:rPr>
              <a:t>Entity-Relationship (erDiagram) and Process Flowchart (graph TD) syntax standards.</a:t>
            </a:r>
          </a:p>
          <a:p>
            <a:pPr>
              <a:defRPr b="1" sz="1500">
                <a:solidFill>
                  <a:srgbClr val="C8102E"/>
                </a:solidFill>
              </a:defRPr>
            </a:pPr>
            <a:r>
              <a:t>📚 GitHub Source Code Repository: </a:t>
            </a:r>
            <a:r>
              <a:rPr b="0">
                <a:solidFill>
                  <a:srgbClr val="0F172A"/>
                </a:solidFill>
              </a:rPr>
              <a:t>https://github.com/vabhijit516-bot/sqlllm</a:t>
            </a:r>
          </a:p>
          <a:p>
            <a:pPr>
              <a:defRPr b="1" sz="1500">
                <a:solidFill>
                  <a:srgbClr val="C8102E"/>
                </a:solidFill>
              </a:defRPr>
            </a:pPr>
            <a:r>
              <a:t>📚 Live Web Application Deployment: </a:t>
            </a:r>
            <a:r>
              <a:rPr b="0">
                <a:solidFill>
                  <a:srgbClr val="0F172A"/>
                </a:solidFill>
              </a:rPr>
              <a:t>http://localhost:5173</a:t>
            </a:r>
          </a:p>
          <a:p>
            <a:pPr>
              <a:defRPr b="1" sz="1500">
                <a:solidFill>
                  <a:srgbClr val="C8102E"/>
                </a:solidFill>
              </a:defRPr>
            </a:pPr>
            <a:r>
              <a:t>📚 FastAPI Backend &amp; Swagger Documentation: </a:t>
            </a:r>
            <a:r>
              <a:rPr b="0">
                <a:solidFill>
                  <a:srgbClr val="0F172A"/>
                </a:solidFill>
              </a:rPr>
              <a:t>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